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6.xml" ContentType="application/vnd.openxmlformats-officedocument.presentationml.slide+xml"/>
  <Override PartName="/ppt/slides/slide17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431" r:id="rId182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432" r:id="rId183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</p:sldIdLst>
  <p:notesMasterIdLst>
    <p:notesMasterId r:id="rId1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notesMaster" Target="notesMasters/notesMaster1.xml"/><Relationship Id="rId178" Type="http://schemas.openxmlformats.org/officeDocument/2006/relationships/presProps" Target="presProps.xml"/><Relationship Id="rId179" Type="http://schemas.openxmlformats.org/officeDocument/2006/relationships/viewProps" Target="viewProps.xml"/><Relationship Id="rId180" Type="http://schemas.openxmlformats.org/officeDocument/2006/relationships/theme" Target="theme/theme1.xml"/><Relationship Id="rId181" Type="http://schemas.openxmlformats.org/officeDocument/2006/relationships/tableStyles" Target="tableStyles.xml"/>  <Relationship Id="rId182" Type="http://schemas.openxmlformats.org/officeDocument/2006/relationships/slide" Target="slides/slide176.xml"/>
  <Relationship Id="rId183" Type="http://schemas.openxmlformats.org/officeDocument/2006/relationships/slide" Target="slides/slide17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cards for beginners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kan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Kanji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漢字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Chinese-origin characters that represent meaning. About 2,000-3,000 in common use.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13632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30880" y="315468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3230880" y="3913632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(two)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13120" y="315468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913120" y="3913632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hirag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Hiragana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ひらがな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phonetic characters, one per sound. Curved, flowing strokes.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157984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157984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767328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3767328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376672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え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376672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986016" y="315468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986016" y="3913632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katak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Katakana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カタカナ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phonetic characters, mainly for foreign loanwords. Angular, straight strokes.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テレビ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136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terebi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(television)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pic>
        <p:nvPicPr>
          <p:cNvPr id="3" name="Image 0" descr="/home/claude/flashcard-demo2/illustrations/rooma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51760" y="502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Roomaji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ローマ字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651760" y="1188720"/>
            <a:ext cx="5852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32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sounds written with the English alphabet. 101 sounds total: 5 vowels, 95 consonant-vowel combinations, plus 'n'.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paatii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(party)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sofaa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(sofa)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chesu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(chess)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Vowels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長音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vowels replace macrons for a long vowel sound (held twice as long). Vowel length changes meaning.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koohii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(coffee)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(bird)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toori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(street)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word boundaries: after prefixes/before suffixes, between compound words, and before inflected endings.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o-cha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Nihon-go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(Japanese language)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iki-mashoo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(let's go)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Apostrophes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short pause after the 'n' sound, or show a contraction.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gen'in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(cause)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fun'iki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(atmosphere)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'N'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like 'm' before b/p/m, like 'ng' before g/k, and as a nasal sound before vowels, y/w, and s/sh/h.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shinbun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(newspaper)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kangae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(thought)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funsui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(fountain)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denwa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(telephone)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Consonants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促音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that merge together are shown by doubling the consonant.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hakkiri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(clearly)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massugu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(straight)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(stamp)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46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issho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(together)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used in this textbook for questions, answers, and examples.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(question)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86016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(example)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母音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vowels (a, i, u, e, o), each clear and crisp -- shorter and more clipped than in English.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(father)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(king)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(put)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(pet)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86016" y="32461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44348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Voiceless Vowels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or after voiceless consonants (k, s, sh, t, ts, ch, h, f, p), 'i' and 'u' are pronounced weakly.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tsuki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(moon)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be)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hisho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(secretary)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Semi-vowel Y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半母音 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shorter, softer 'i' sound. Combines with a, u, or o as one syllable -- not two.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kyoo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(today)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kiyoo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(skillful)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Semi-vowel W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半母音 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followed by 'a'. 'Wa' is pronounced like 'ua' without rounding the lips.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 / me)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Consonants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子音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vowels, and lighter than in English. English 'l' and 'v' don't exist in Japanese. 'Z' doesn't vibrate at the tongue tip.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(wants)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(foot)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protruding both lips, as if blowing out a candle.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fuyu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(winter)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flapping sound, made by quickly touching the tongue tip to the gum behind the upper teeth.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arigatoo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(thank you)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Sound (mid-word)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word, 'g' is close to the 'ng' sound, though this is optional.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eega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(movie)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shingoo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(traffic light)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kaigi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(conference)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Sound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vibrate at the top of the tongue the way the English 'z' does.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mizu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(water)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Consonant Sounds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consonants (kk, ss, ssh, tt, tts, tch, pp) are pronounced with a brief held pause before release, like 'black cat' or 'hot tip' said quickly.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(stamp)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3088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issho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23088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(together)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13120" y="3246120"/>
            <a:ext cx="268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hakkiri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913120" y="4434840"/>
            <a:ext cx="268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(clearly)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Writing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and Rhythm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アクセント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uses pitch (high/low), not stress -- every syllable is the same length and speed, like a metronome that changes pitch. Same spelling with a different pitch pattern can mean something different.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2103120"/>
          </a:xfrm>
          <a:prstGeom prst="roundRect">
            <a:avLst>
              <a:gd name="adj" fmla="val 3478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V="1">
            <a:off x="96774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744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628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2036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1920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(candy)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0886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5856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5740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6148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6032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88976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(rain)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4998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9968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9852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10260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0144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323088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4991100" y="3296412"/>
            <a:ext cx="50292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4080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3964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4372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42560" y="3886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(cough)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28080" y="3296412"/>
            <a:ext cx="35560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778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5028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3662172"/>
            <a:ext cx="355600" cy="914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338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588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88898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6148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591312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(doctorate)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V="1">
            <a:off x="7569200" y="3296412"/>
            <a:ext cx="355600" cy="365760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18908" y="361188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9140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24800" y="3296412"/>
            <a:ext cx="355600" cy="914"/>
          </a:xfrm>
          <a:prstGeom prst="line">
            <a:avLst/>
          </a:prstGeom>
          <a:noFill/>
          <a:ln w="19050">
            <a:solidFill>
              <a:srgbClr val="3E8F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7450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4700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230108" y="3246120"/>
            <a:ext cx="100584" cy="100584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102600" y="3886200"/>
            <a:ext cx="35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7254240" y="429768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(white paper)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577840" y="28803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height = pitch (higher = higher pitch)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up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lue_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x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ny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nc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ig_ears_pe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listen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rice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oman_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hu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kyookai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smoke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n_f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lass_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sukoshi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r_c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usa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wo_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g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ose_ar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intest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airplane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chakuchi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uddle_j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chuucho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questio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eedle_th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eather_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t_me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nyuushi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tooth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oor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nyuukai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a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2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lly_n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und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ind_whis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hyuuhyuu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whiz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d_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hyooka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ar_mi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mpass_so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i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musume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arget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mokuhyoo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yok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ount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ream_b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ri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mployer_wo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yatou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employ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ro_dr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yuuki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rystal_b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oil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yuueki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ro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yookyuu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ffee_br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island_l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ouse_a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queu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ext_shor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ragon_s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a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elf_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(me)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orget_f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wasureru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forget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ipboard_as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wariate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ipboard_as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wariateru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1510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0090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0372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prout_yo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arning_h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eek_colu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endParaRPr lang="en-US" sz="2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ven_nu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guusuu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number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heater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lendar_m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opposite_ar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eak_be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gyuuniku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estival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gyooji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xes_st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office_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jimusho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</a:t>
            </a:r>
            <a:endParaRPr lang="en-US" sz="2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ox_s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zurui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em_luxu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zeetaku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leph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auc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jaguchi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umber_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r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joogi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2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ashi_bow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 stock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oor_ex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out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here_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aduation_un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daigaku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dice_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detarame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nonsense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lease_h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</a:t>
            </a:r>
            <a:endParaRPr lang="en-US" sz="2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x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er_m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biiru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g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lipst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2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un_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booshi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in_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sanbyaku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ick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byooki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sickness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op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read_p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ool_sw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ilbox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posuto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ano_ke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lug_elec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puragu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dal_b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pedaru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</a:t>
            </a:r>
            <a:endParaRPr lang="en-US" sz="2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in_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roppyaku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ppya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in_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happyaku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hundred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ppya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arrows_opp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ento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box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ipboard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kanri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andcuffs_cr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hanzai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kanji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kanji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character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erfect_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kanpeki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hush_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chinmoku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</a:t>
            </a:r>
            <a:endParaRPr lang="en-US" sz="2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ewspaper_f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shinbun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night_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lond_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kinpatsu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earth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kankyoo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weather_su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ull_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mangetsu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art_h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kenshin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elephone_recei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denwa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lerk_cou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bookstore_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honya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store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22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gnify_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hakkiri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inch_li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chotto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tto</a:t>
            </a:r>
            <a:endParaRPr lang="en-US" sz="2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raight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massugu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2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icket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kippu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ppu</a:t>
            </a:r>
            <a:endParaRPr lang="en-US" sz="2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tamp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tte</a:t>
            </a:r>
            <a:endParaRPr lang="en-US" sz="2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rai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andy_lol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sunrise_mo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hemp_pl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hair_s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cough_pe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endParaRPr lang="en-US" sz="22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hermometer_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atsusa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thick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atsusa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man_hus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shujin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prisoner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shuujin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prisoner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question_b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far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tooi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uncle_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ojisan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andpa_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ojiisan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grandfather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1510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0090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0372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aunt_wo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352044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2366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lashcard-demo3/illustrations/grandma_wo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4760" y="1188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obaasan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794760" y="2468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grandmother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94760" y="3200400"/>
            <a:ext cx="470916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18338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194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60620" y="3520440"/>
            <a:ext cx="777240" cy="548640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69180" y="342900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73786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4642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15100" y="4069080"/>
            <a:ext cx="777240" cy="914"/>
          </a:xfrm>
          <a:prstGeom prst="line">
            <a:avLst/>
          </a:prstGeom>
          <a:noFill/>
          <a:ln w="31750">
            <a:solidFill>
              <a:srgbClr val="3E8FA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366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00900" y="3977640"/>
            <a:ext cx="182880" cy="182880"/>
          </a:xfrm>
          <a:prstGeom prst="ellipse">
            <a:avLst/>
          </a:prstGeom>
          <a:solidFill>
            <a:srgbClr val="3E8FA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03720" y="44348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Roomaji Syllables Chart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0" y="37490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syllables (a / i / u / e / o)  and  contracted yōon sounds (ya / yu / yo)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554480" y="621792"/>
            <a:ext cx="6035040" cy="2414016"/>
          </a:xfrm>
          <a:prstGeom prst="roundRect">
            <a:avLst>
              <a:gd name="adj" fmla="val 4545"/>
            </a:avLst>
          </a:prstGeom>
          <a:solidFill>
            <a:srgbClr val="EA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55648" y="676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Seion (Plain Sounds)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0512" y="914400"/>
          <a:ext cx="3493008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566928"/>
                <a:gridCol w="566928"/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EB6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32704" y="914400"/>
          <a:ext cx="170078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B6E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EB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554480" y="3127248"/>
            <a:ext cx="6035040" cy="1810512"/>
          </a:xfrm>
          <a:prstGeom prst="roundRect">
            <a:avLst>
              <a:gd name="adj" fmla="val 6061"/>
            </a:avLst>
          </a:prstGeom>
          <a:solidFill>
            <a:srgbClr val="FFF1F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755648" y="3182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Dakuon &amp; Handakuon (Voiced Sounds)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0512" y="3419856"/>
          <a:ext cx="3493008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566928"/>
                <a:gridCol w="566928"/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9A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(consonant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32704" y="3419856"/>
          <a:ext cx="170078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566928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9AC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9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Pronunciation Guide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0" y="4206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symbols and their English approximate pronunciation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1168" y="834390"/>
            <a:ext cx="8741664" cy="3931920"/>
          </a:xfrm>
          <a:prstGeom prst="roundRect">
            <a:avLst>
              <a:gd name="adj" fmla="val 3721"/>
            </a:avLst>
          </a:prstGeom>
          <a:solidFill>
            <a:srgbClr val="EA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7155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 Sounds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4016502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062222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062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4016502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651760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3218688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651760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300" dirty="0"/>
          </a:p>
        </p:txBody>
      </p:sp>
      <p:sp>
        <p:nvSpPr>
          <p:cNvPr id="33" name="Text 31"/>
          <p:cNvSpPr txBox="1"/>
          <p:nvPr/>
        </p:nvSpPr>
        <p:spPr>
          <a:xfrm>
            <a:off x="3218688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0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651760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3218688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0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51760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651760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300" dirty="0"/>
          </a:p>
        </p:txBody>
      </p:sp>
      <p:sp>
        <p:nvSpPr>
          <p:cNvPr id="41" name="Text 39"/>
          <p:cNvSpPr txBox="1"/>
          <p:nvPr/>
        </p:nvSpPr>
        <p:spPr>
          <a:xfrm>
            <a:off x="3218688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45152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6592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736592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300" dirty="0"/>
          </a:p>
        </p:txBody>
      </p:sp>
      <p:sp>
        <p:nvSpPr>
          <p:cNvPr id="45" name="Text 43"/>
          <p:cNvSpPr txBox="1"/>
          <p:nvPr/>
        </p:nvSpPr>
        <p:spPr>
          <a:xfrm>
            <a:off x="5303520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5152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36592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736592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300" dirty="0"/>
          </a:p>
        </p:txBody>
      </p:sp>
      <p:sp>
        <p:nvSpPr>
          <p:cNvPr id="49" name="Text 47"/>
          <p:cNvSpPr txBox="1"/>
          <p:nvPr/>
        </p:nvSpPr>
        <p:spPr>
          <a:xfrm>
            <a:off x="5303520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45152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36592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736592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300" dirty="0"/>
          </a:p>
        </p:txBody>
      </p:sp>
      <p:sp>
        <p:nvSpPr>
          <p:cNvPr id="53" name="Text 51"/>
          <p:cNvSpPr txBox="1"/>
          <p:nvPr/>
        </p:nvSpPr>
        <p:spPr>
          <a:xfrm>
            <a:off x="5303520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645152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36592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736592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300" dirty="0"/>
          </a:p>
        </p:txBody>
      </p:sp>
      <p:sp>
        <p:nvSpPr>
          <p:cNvPr id="57" name="Text 55"/>
          <p:cNvSpPr txBox="1"/>
          <p:nvPr/>
        </p:nvSpPr>
        <p:spPr>
          <a:xfrm>
            <a:off x="5303520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29984" y="1236726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21424" y="1282446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821424" y="12824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300" dirty="0"/>
          </a:p>
        </p:txBody>
      </p:sp>
      <p:sp>
        <p:nvSpPr>
          <p:cNvPr id="61" name="Text 59"/>
          <p:cNvSpPr txBox="1"/>
          <p:nvPr/>
        </p:nvSpPr>
        <p:spPr>
          <a:xfrm>
            <a:off x="7388352" y="1236726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729984" y="1931670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21424" y="1977390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821424" y="197739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300" dirty="0"/>
          </a:p>
        </p:txBody>
      </p:sp>
      <p:sp>
        <p:nvSpPr>
          <p:cNvPr id="65" name="Text 63"/>
          <p:cNvSpPr txBox="1"/>
          <p:nvPr/>
        </p:nvSpPr>
        <p:spPr>
          <a:xfrm>
            <a:off x="7388352" y="1931670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729984" y="2626614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21424" y="2672334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821424" y="267233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300" dirty="0"/>
          </a:p>
        </p:txBody>
      </p:sp>
      <p:sp>
        <p:nvSpPr>
          <p:cNvPr id="69" name="Text 67"/>
          <p:cNvSpPr txBox="1"/>
          <p:nvPr/>
        </p:nvSpPr>
        <p:spPr>
          <a:xfrm>
            <a:off x="7388352" y="2626614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729984" y="3321558"/>
            <a:ext cx="19385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BBDCF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21424" y="3367278"/>
            <a:ext cx="475488" cy="475488"/>
          </a:xfrm>
          <a:prstGeom prst="ellipse">
            <a:avLst/>
          </a:prstGeom>
          <a:solidFill>
            <a:srgbClr val="7EB6E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821424" y="336727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300" dirty="0"/>
          </a:p>
        </p:txBody>
      </p:sp>
      <p:sp>
        <p:nvSpPr>
          <p:cNvPr id="73" name="Text 71"/>
          <p:cNvSpPr txBox="1"/>
          <p:nvPr/>
        </p:nvSpPr>
        <p:spPr>
          <a:xfrm>
            <a:off x="7388352" y="3321558"/>
            <a:ext cx="118872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175</Slides>
  <Notes>175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175</vt:i4>
      </vt:variant>
    </vt:vector>
  </HeadingPairs>
  <TitlesOfParts>
    <vt:vector size="1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2026-09-08T11:08:56Z</dcterms:created>
  <dcterms:modified xsi:type="dcterms:W3CDTF">2026-09-08T11:08:56Z</dcterms:modified>
</cp:coreProperties>
</file>