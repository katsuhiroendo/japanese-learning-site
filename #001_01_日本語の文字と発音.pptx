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431" r:id="rId182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432" r:id="rId183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1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177" Type="http://schemas.openxmlformats.org/officeDocument/2006/relationships/notesMaster" Target="notesMasters/notesMaster1.xml"/><Relationship Id="rId178" Type="http://schemas.openxmlformats.org/officeDocument/2006/relationships/presProps" Target="presProps.xml"/><Relationship Id="rId179" Type="http://schemas.openxmlformats.org/officeDocument/2006/relationships/viewProps" Target="viewProps.xml"/><Relationship Id="rId180" Type="http://schemas.openxmlformats.org/officeDocument/2006/relationships/theme" Target="theme/theme1.xml"/><Relationship Id="rId181" Type="http://schemas.openxmlformats.org/officeDocument/2006/relationships/tableStyles" Target="tableStyles.xml"/><Relationship Id="rId182" Type="http://schemas.openxmlformats.org/officeDocument/2006/relationships/slide" Target="slides/slide6.xml"/><Relationship Id="rId18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cards for beginners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pic>
        <p:nvPicPr>
          <p:cNvPr id="3" name="Image 0" descr="/home/claude/flashcard-demo2/illustrations/kan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51760" y="502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Kanji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漢字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651760" y="1188720"/>
            <a:ext cx="5852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325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Chinese-origin characters that represent meaning. About 2,000-3,000 in common use.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268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13632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230880" y="3154680"/>
            <a:ext cx="268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3230880" y="3913632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(two)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913120" y="3154680"/>
            <a:ext cx="268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5913120" y="3913632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pic>
        <p:nvPicPr>
          <p:cNvPr id="3" name="Image 0" descr="/home/claude/flashcard-demo2/illustrations/hirag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51760" y="502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Hiragana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ひらがな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651760" y="1188720"/>
            <a:ext cx="5852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325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phonetic characters, one per sound. Curved, flowing strokes.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157984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2157984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767328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3767328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376672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え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5376672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986016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986016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pic>
        <p:nvPicPr>
          <p:cNvPr id="3" name="Image 0" descr="/home/claude/flashcard-demo2/illustrations/katak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51760" y="502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Katakana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カタカナ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651760" y="1188720"/>
            <a:ext cx="5852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325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phonetic characters, mainly for foreign loanwords. Angular, straight strokes.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テレビ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136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terebi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(television)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pic>
        <p:nvPicPr>
          <p:cNvPr id="3" name="Image 0" descr="/home/claude/flashcard-demo2/illustrations/rooma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51760" y="502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Roomaji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ローマ字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651760" y="1188720"/>
            <a:ext cx="5852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325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sounds written with the English alphabet. 101 sounds total: 5 vowels, 95 consonant-vowel combinations, plus 'n'.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paatii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(party)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sofaa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(sofa)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chesu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(chess)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Roomaji Syllables Chart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0" y="37490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syllables (a / i / u / e / o)  and  contracted yōon sounds (ya / yu / yo)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554480" y="621792"/>
            <a:ext cx="6035040" cy="2414016"/>
          </a:xfrm>
          <a:prstGeom prst="roundRect">
            <a:avLst>
              <a:gd name="adj" fmla="val 4545"/>
            </a:avLst>
          </a:prstGeom>
          <a:solidFill>
            <a:srgbClr val="EA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55648" y="676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Seion (Plain Sounds)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0512" y="914400"/>
          <a:ext cx="3493008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566928"/>
                <a:gridCol w="566928"/>
                <a:gridCol w="566928"/>
                <a:gridCol w="566928"/>
                <a:gridCol w="56692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32704" y="914400"/>
          <a:ext cx="170078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566928"/>
                <a:gridCol w="56692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554480" y="3127248"/>
            <a:ext cx="6035040" cy="1810512"/>
          </a:xfrm>
          <a:prstGeom prst="roundRect">
            <a:avLst>
              <a:gd name="adj" fmla="val 6061"/>
            </a:avLst>
          </a:prstGeom>
          <a:solidFill>
            <a:srgbClr val="FFF1F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755648" y="3182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Dakuon &amp; Handakuon (Voiced Sounds)</a:t>
            </a:r>
            <a:endParaRPr lang="en-US" sz="13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0512" y="3419856"/>
          <a:ext cx="3493008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566928"/>
                <a:gridCol w="566928"/>
                <a:gridCol w="566928"/>
                <a:gridCol w="566928"/>
                <a:gridCol w="56692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(consonant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32704" y="3419856"/>
          <a:ext cx="170078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566928"/>
                <a:gridCol w="56692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Vowels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長音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vowels replace macrons for a long vowel sound (held twice as long). Vowel length changes meaning.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koohii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(coffee)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(bird)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toori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(street)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word boundaries: after prefixes/before suffixes, between compound words, and before inflected endings.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o-cha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Nihon-go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(Japanese language)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iki-mashoo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(let's go)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Apostrophes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short pause after the 'n' sound, or show a contraction.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gen'in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(cause)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fun'iki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(atmosphere)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'N' Sound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 like 'm' before b/p/m, like 'ng' before g/k, and as a nasal sound before vowels, y/w, and s/sh/h.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shinbun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(newspaper)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kangae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(thought)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funsui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(fountain)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denwa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(telephone)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Consonants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促音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that merge together are shown by doubling the consonant.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hakkiri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(clearly)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massugu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(straight)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(stamp)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issho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(together)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used in this textbook for questions, answers, and examples.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(question)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157984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86016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986016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(example)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母音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vowels (a, i, u, e, o), each clear and crisp -- shorter and more clipped than in English.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(father)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157984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(king)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(put)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(pet)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86016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986016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(toe)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Voiceless Vowels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or after voiceless consonants (k, s, sh, t, ts, ch, h, f, p), 'i' and 'u' are pronounced weakly.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tsuki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(moon)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be)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hisho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(secretary)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Semi-vowel Y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半母音 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shorter, softer 'i' sound. Combines with a, u, or o as one syllable -- not two.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kyoo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(today)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kiyoo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(skillful)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Semi-vowel W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半母音 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followed by 'a'. 'Wa' is pronounced like 'ua' without rounding the lips.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 / me)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子音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vowels, and lighter than in English. English 'l' and 'v' don't exist in Japanese. 'Z' doesn't vibrate at the tongue tip.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(wants)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(foot)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Pronunciation Guide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0" y="4206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symbols and their English approximate pronunciation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1168" y="834390"/>
            <a:ext cx="8741664" cy="3931920"/>
          </a:xfrm>
          <a:prstGeom prst="roundRect">
            <a:avLst>
              <a:gd name="adj" fmla="val 3721"/>
            </a:avLst>
          </a:prstGeom>
          <a:solidFill>
            <a:srgbClr val="EA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7155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 Sounds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1236726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2446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2824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1236726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93167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977390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19773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1931670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" y="2626614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672334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267233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2626614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3321558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67278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3672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" y="3321558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4016502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4062222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062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4016502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0" y="1236726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1282446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651760" y="12824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3218688" y="1236726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193167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1977390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651760" y="19773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300" dirty="0"/>
          </a:p>
        </p:txBody>
      </p:sp>
      <p:sp>
        <p:nvSpPr>
          <p:cNvPr id="33" name="Text 31"/>
          <p:cNvSpPr txBox="1"/>
          <p:nvPr/>
        </p:nvSpPr>
        <p:spPr>
          <a:xfrm>
            <a:off x="3218688" y="1931670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knife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0" y="2626614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51760" y="2672334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651760" y="267233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300" dirty="0"/>
          </a:p>
        </p:txBody>
      </p:sp>
      <p:sp>
        <p:nvSpPr>
          <p:cNvPr id="37" name="Text 35"/>
          <p:cNvSpPr txBox="1"/>
          <p:nvPr/>
        </p:nvSpPr>
        <p:spPr>
          <a:xfrm>
            <a:off x="3218688" y="2626614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0" y="3321558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51760" y="3367278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651760" y="33672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300" dirty="0"/>
          </a:p>
        </p:txBody>
      </p:sp>
      <p:sp>
        <p:nvSpPr>
          <p:cNvPr id="41" name="Text 39"/>
          <p:cNvSpPr txBox="1"/>
          <p:nvPr/>
        </p:nvSpPr>
        <p:spPr>
          <a:xfrm>
            <a:off x="3218688" y="3321558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45152" y="1236726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36592" y="1282446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736592" y="12824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300" dirty="0"/>
          </a:p>
        </p:txBody>
      </p:sp>
      <p:sp>
        <p:nvSpPr>
          <p:cNvPr id="45" name="Text 43"/>
          <p:cNvSpPr txBox="1"/>
          <p:nvPr/>
        </p:nvSpPr>
        <p:spPr>
          <a:xfrm>
            <a:off x="5303520" y="1236726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45152" y="193167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36592" y="1977390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736592" y="19773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300" dirty="0"/>
          </a:p>
        </p:txBody>
      </p:sp>
      <p:sp>
        <p:nvSpPr>
          <p:cNvPr id="49" name="Text 47"/>
          <p:cNvSpPr txBox="1"/>
          <p:nvPr/>
        </p:nvSpPr>
        <p:spPr>
          <a:xfrm>
            <a:off x="5303520" y="1931670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45152" y="2626614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36592" y="2672334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736592" y="267233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300" dirty="0"/>
          </a:p>
        </p:txBody>
      </p:sp>
      <p:sp>
        <p:nvSpPr>
          <p:cNvPr id="53" name="Text 51"/>
          <p:cNvSpPr txBox="1"/>
          <p:nvPr/>
        </p:nvSpPr>
        <p:spPr>
          <a:xfrm>
            <a:off x="5303520" y="2626614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645152" y="3321558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36592" y="3367278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736592" y="33672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2300" dirty="0"/>
          </a:p>
        </p:txBody>
      </p:sp>
      <p:sp>
        <p:nvSpPr>
          <p:cNvPr id="57" name="Text 55"/>
          <p:cNvSpPr txBox="1"/>
          <p:nvPr/>
        </p:nvSpPr>
        <p:spPr>
          <a:xfrm>
            <a:off x="5303520" y="3321558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29984" y="1236726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21424" y="1282446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821424" y="12824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300" dirty="0"/>
          </a:p>
        </p:txBody>
      </p:sp>
      <p:sp>
        <p:nvSpPr>
          <p:cNvPr id="61" name="Text 59"/>
          <p:cNvSpPr txBox="1"/>
          <p:nvPr/>
        </p:nvSpPr>
        <p:spPr>
          <a:xfrm>
            <a:off x="7388352" y="1236726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729984" y="193167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21424" y="1977390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821424" y="19773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300" dirty="0"/>
          </a:p>
        </p:txBody>
      </p:sp>
      <p:sp>
        <p:nvSpPr>
          <p:cNvPr id="65" name="Text 63"/>
          <p:cNvSpPr txBox="1"/>
          <p:nvPr/>
        </p:nvSpPr>
        <p:spPr>
          <a:xfrm>
            <a:off x="7388352" y="1931670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729984" y="2626614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21424" y="2672334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821424" y="267233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300" dirty="0"/>
          </a:p>
        </p:txBody>
      </p:sp>
      <p:sp>
        <p:nvSpPr>
          <p:cNvPr id="69" name="Text 67"/>
          <p:cNvSpPr txBox="1"/>
          <p:nvPr/>
        </p:nvSpPr>
        <p:spPr>
          <a:xfrm>
            <a:off x="7388352" y="2626614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729984" y="3321558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21424" y="3367278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821424" y="33672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300" dirty="0"/>
          </a:p>
        </p:txBody>
      </p:sp>
      <p:sp>
        <p:nvSpPr>
          <p:cNvPr id="73" name="Text 71"/>
          <p:cNvSpPr txBox="1"/>
          <p:nvPr/>
        </p:nvSpPr>
        <p:spPr>
          <a:xfrm>
            <a:off x="7388352" y="3321558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 Sound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protruding both lips, as if blowing out a candle.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fuyu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(winter)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Sound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flapping sound, made by quickly touching the tongue tip to the gum behind the upper teeth.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arigatoo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(thank you)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Sound (mid-word)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word, 'g' is close to the 'ng' sound, though this is optional.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(movie)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shingoo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(traffic light)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kaigi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(conference)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Sound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vibrate at the top of the tongue the way the English 'z' does.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mizu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(water)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Consonant Sounds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consonants (kk, ss, ssh, tt, tts, tch, pp) are pronounced with a brief held pause before release, like 'black cat' or 'hot tip' said quickly.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(stamp)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issho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(together)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hakkiri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(clearly)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and Rhythm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アクセント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uses pitch (high/low), not stress -- every syllable is the same length and speed, like a metronome that changes pitch. Same spelling with a different pitch pattern can mean something different.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V="1">
            <a:off x="967740" y="3296412"/>
            <a:ext cx="50292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744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628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2036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1920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(candy)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08860" y="3296412"/>
            <a:ext cx="50292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5856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5740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6148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56032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88976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49980" y="3296412"/>
            <a:ext cx="50292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9968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9852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10260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0144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323088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4991100" y="3296412"/>
            <a:ext cx="50292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4080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3964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4372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4256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(cough)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28080" y="3296412"/>
            <a:ext cx="35560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778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5028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3662172"/>
            <a:ext cx="355600" cy="914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338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588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88898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76148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591312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(doctorate)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flipV="1">
            <a:off x="7569200" y="3296412"/>
            <a:ext cx="35560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90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39140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24800" y="3296412"/>
            <a:ext cx="355600" cy="914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7450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4700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23010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10260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725424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(white paper)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577840" y="2880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height = pitch (higher = higher pitch)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175</Slides>
  <Notes>175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175</vt:i4>
      </vt:variant>
    </vt:vector>
  </HeadingPairs>
  <TitlesOfParts>
    <vt:vector size="1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2026-09-08T11:08:56Z</dcterms:created>
  <dcterms:modified xsi:type="dcterms:W3CDTF">2026-09-08T11:08:56Z</dcterms:modified>
</cp:coreProperties>
</file>