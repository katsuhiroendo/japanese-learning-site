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AISATSU</a:t>
            </a:r>
            <a:pPr indent="0" marL="0">
              <a:buNone/>
            </a:pPr>
            <a:r>
              <a:rPr lang="en-US" sz="26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あいさつ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Japanese — study cards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Phrases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あいさつの言葉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everyday greetings. Learn these first — they open almost every conversation.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2834640"/>
          </a:xfrm>
          <a:prstGeom prst="roundRect">
            <a:avLst>
              <a:gd name="adj" fmla="val 2581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94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Ohayoo gozai-masu.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423160"/>
            <a:ext cx="364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394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2880360"/>
            <a:ext cx="364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day. / Hello.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37560"/>
            <a:ext cx="394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Konbanwa.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23790" y="3337560"/>
            <a:ext cx="364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394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Oyasumi nasai.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23790" y="3794760"/>
            <a:ext cx="364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51960"/>
            <a:ext cx="394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Sayoonara.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723790" y="4251960"/>
            <a:ext cx="364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bye.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(1/2)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会話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E8F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35331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08676" y="135331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0253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872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002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1984248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08676" y="1984248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E8F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615184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08676" y="2615184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980944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Seeko desu.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08676" y="2980944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Seeko.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346704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08676" y="3346704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(2/2)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会話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872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35331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08676" y="135331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71907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desu.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08676" y="171907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John.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08483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08676" y="208483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45059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 ka?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08676" y="245059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Japanese?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E8F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13639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Nihon-jin desu.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08676" y="313639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I'm Japanese.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502152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Amerika-jin desu ka?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08676" y="3502152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(John) American?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872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151376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Amerika-jin de wa ari-masen.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08676" y="4151376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I'm not American.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517136"/>
            <a:ext cx="3671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Oosutoraria-jin desu.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08676" y="4517136"/>
            <a:ext cx="3003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Australian.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Vocabulary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新しい単語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225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3225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98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798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 (girl's name)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73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273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am, are, is (to be)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24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224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(man's name)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00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7000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person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23225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3225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2798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-san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798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/ Mrs. / Miss / Ms. (honorific title)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273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Amerika-jin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273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4224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wa ari-masen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224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form of 'desu'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47000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Oosutoraria-jin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7000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8F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解説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こんにちは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'Hello' / 'Good afternoon', and includes 'How are you'. You may say 'O-genki desu ka?' but it is not so common -- it's just a Japanese form of the English expression.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Konnichiwa. O-genki desu ka?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 How are you?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Hai, genki desu.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I'm fine.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はじめまして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means 'I am meeting you for the first time', so it can be used for 'How do you do?'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used as a greeting: “How do you do?”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どうぞよろしく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means 'Please do me a favour'. It's used for 'I am glad to meet you', and is often used together with 'Hajimemashite'.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-San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さん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suffix 'san' is usually put after the name, similar to 'Mr., Miss, Ms., Mrs.'. It's used after family names and also first / full names for politeness. 'San' cannot be used when talking about yourself.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Honda-san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Honda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Kazuo-san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Kazuo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9476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Kazuo-san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23790" y="379476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Kazuo Honda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8F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(I)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語順 — 1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Japanese, sentences end in their predicates (verbs etc.).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Seeko desu.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51476" y="1874520"/>
            <a:ext cx="3415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Seeko.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58568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Oosutoraria-jin desu.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51476" y="2258568"/>
            <a:ext cx="3415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is Australian.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797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can often be omitted if it's already known.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9125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(Anata wa) Nihon-jin desu ka?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51476" y="3191256"/>
            <a:ext cx="3415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(you) Japanese?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570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Hai, (watashi wa) Nihon-jin desu.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51476" y="3557016"/>
            <a:ext cx="3415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(I) am Japanese.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(I)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語順 — 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don't change between 1st / 2nd / 3rd person, or in plurals.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2651760"/>
          </a:xfrm>
          <a:prstGeom prst="roundRect">
            <a:avLst>
              <a:gd name="adj" fmla="val 2759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Seeko desu.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3774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Seeko.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Amerika-jin desu ka?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288036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American?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Oosutoraria-jin desu.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23790" y="338328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is Australian.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88620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Nihon-jin desu.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23790" y="388620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Japanese.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'Wa'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indicate the function of the preceding word. 'Wa' marks the topic -- the word before 'wa' often becomes the subject, translated as 'as for...', 'talking about...' etc.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Jon desu.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me / I am John.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 wa Nihon-jin desu.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for Seeko / she is Japanese.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form 'de wa ari-masen'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expression is the negative form of 'desu'.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 wa ari-masen.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Japanese.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Amerika-jin de wa ari-masen.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is not American.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'Ka'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particle 'ka' is put at the end of a sentence, it becomes a question.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Amerika-jin desu ka?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23790" y="278892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American?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946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 wa Nihon-jin desu ka?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23790" y="3291840"/>
            <a:ext cx="364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Seeko Japanese?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8F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練習問題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(1) &amp; (3)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置換練習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underlined word for each option below.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Watashi wa </a:t>
            </a:r>
            <a:pPr indent="0" marL="0">
              <a:buNone/>
            </a:pPr>
            <a:r>
              <a:rPr lang="en-US" sz="1400" b="1" u="sng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desu.   /   (3)  Watashi wa </a:t>
            </a:r>
            <a:pPr indent="0" marL="0">
              <a:buNone/>
            </a:pPr>
            <a:r>
              <a:rPr lang="en-US" sz="1400" b="1" u="sng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wa ari-masen.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positive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negative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Jon desu.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Jon de wa ari-masen.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43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desu.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843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 wa ari-masen.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644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Amerika-jin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264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desu.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264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 wa ari-masen.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850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Oosutoraria-jin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desu.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 wa ari-masen.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056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Chuugoku-jin*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1056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desu.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1056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 wa ari-masen.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Chuugoku-jin = Chinese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(2) &amp; (4)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置換練習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</a:t>
            </a:r>
            <a:pPr indent="0" marL="0">
              <a:buNone/>
            </a:pPr>
            <a:r>
              <a:rPr lang="en-US" sz="1400" b="1" u="sng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 Nihon-jin desu.   /   (4)  </a:t>
            </a:r>
            <a:pPr indent="0" marL="0">
              <a:buNone/>
            </a:pPr>
            <a:r>
              <a:rPr lang="en-US" sz="1400" b="1" u="sng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 Nihon-jin de wa ari-masen.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positive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negative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watashi-tachi*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Nihon-jin desu.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48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Nihon-jin de wa ari-masen.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694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 wa ari-masen.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90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anata-tachi*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990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Nihon-jin desu.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990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Nihon-jin de wa ari-masen.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10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kare*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wa Nihon-jin desu.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wa Nihon-jin de wa ari-masen.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31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kanojo*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831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 wa Nihon-jin desu.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831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 wa Nihon-jin de wa ari-masen.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watashi-tachi = we, anata-tachi = you (pl.), kare = he, kanojo = she. 'Tachi' is a plural sign for people only.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(5)  +  Exercise 2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置換と応答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Anata wa </a:t>
            </a:r>
            <a:pPr indent="0" marL="0">
              <a:buNone/>
            </a:pPr>
            <a:r>
              <a:rPr lang="en-US" sz="1400" b="1" u="sng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</a:t>
            </a:r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Jon-san desu ka?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 ka?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029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225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Amerika-jin desu ka?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3225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15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Oosutoraria-jin desu ka?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6151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907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Chuugoku-jin desu ka?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ANSWER BOTH WAYS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Seeko-san desu ka?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 Hai, Seeko desu.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 Iie, Seeko de wa ari-masen.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繰り返し練習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following sentences after the teacher (don't look at the textbook).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Watashi wa Nihon-jin desu.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13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Seeko-san wa Amerika-jin de wa ari-masen.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43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Jon-san wa Oosutoraria-jin desu.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741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Anata-tachi wa Chuugoku-jin desu ka?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04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Watashi-tachi wa Nihon-jin de wa ari-masen.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  Kanojo wa Seeko-san desu.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13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(7)  Kare wa Amerika-jin de wa ari-masen.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43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  Anata wa Oosutoraria-jin desu ka?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3741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(9)  Watashi wa Chuugoku-jin de wa ari-masen.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904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  Kazuo-san wa Nihon-jin desu ka?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 (1)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パターン練習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Oosutoraria-jin desu.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SUBSTITUTIONS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Oosutoraria-jin desu.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061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 wa Oosutoraria-jin desu.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1061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Oosutoraria-jin desu.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1061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55264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Oosutoraria-jin desu.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10612" y="3255264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SUBSTITUTIONS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Amerika-jin desu.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825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Chuugoku-jin desu.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825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further substitutions as your teacher directs.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 (2)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パターン練習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Amerika-jin desu ka?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SUBSTITUTIONS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Amerika-jin desu ka?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061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 wa Amerika-jin desu ka?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1061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Amerika-jin desu ka?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1061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SUBSTITUTIONS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 ka?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825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Chuugoku-jin desu ka?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825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Oosutoraria-jin desu ka?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further substitutions as your teacher directs.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 (3)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パターン練習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 wa ari-masen.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SUBSTITUTIONS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Chuugoku-jin de wa ari-masen.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061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wa Chuugoku-jin de wa ari-masen.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1061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 wa Chuugoku-jin de wa ari-masen.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1061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SUBSTITUTIONS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 wa ari-masen.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825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 wa ari-masen.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825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 wa ari-masen.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further substitutions as your teacher directs.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 (4)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パターン練習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desu.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SUBSTITUTIONS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Chuugoku-jin desu.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061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wa Chuugoku-jin desu.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1061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Chuugoku-jin desu.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1061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55264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 wa Chuugoku-jin desu.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10612" y="3255264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SUBSTITUTIONS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103120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desu.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8252" y="210312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487168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desu.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2487168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871216"/>
            <a:ext cx="2061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desu.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8252" y="2871216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further substitutions as your teacher directs.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自己紹介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yourself, substituting the opening greeting.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840480" cy="3063240"/>
          </a:xfrm>
          <a:prstGeom prst="roundRect">
            <a:avLst>
              <a:gd name="adj" fmla="val 238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1759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36546" y="2194560"/>
            <a:ext cx="1623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97480"/>
            <a:ext cx="1759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36546" y="2697480"/>
            <a:ext cx="1623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00400"/>
            <a:ext cx="1759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(Seeko) desu.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36546" y="3200400"/>
            <a:ext cx="1623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1759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36546" y="3703320"/>
            <a:ext cx="1623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1945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Ohayoo gozai-masu.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98894" y="21945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4231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98894" y="24231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6517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(Seeko) desu.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98894" y="26517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8803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98894" y="28803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375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64608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7947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Konbanwa.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698894" y="37947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40233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698894" y="40233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42519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(Seeko) desu.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698894" y="42519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480560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698894" y="448056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Drill 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発音練習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 the following words.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ohayoo gozai-masu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konnichiwa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konbanwa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oyasumi nasai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sayoonara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watashi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anata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Jon-san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Seeko-san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Nihon-jin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Drill B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発音練習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 the following sentences.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Watashi wa Nihon-jin desu.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Jon-san wa Oosutoraria-jin desu.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Watashi wa Nihon-jin de wa ari-masen.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Seeko-san wa Nihon-jin desu ka?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Anata wa Oosutoraria-jin desu ka?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Study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8F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番外編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months, and time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(I)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4173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76272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76272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35224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94176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4176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/ yon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53128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53128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71032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71032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 / nana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9984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9984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88936" y="914400"/>
            <a:ext cx="758952" cy="306324"/>
          </a:xfrm>
          <a:prstGeom prst="rect">
            <a:avLst/>
          </a:prstGeom>
          <a:solidFill>
            <a:srgbClr val="3E8FAA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88936" y="91440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/ kyuu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1220724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0" y="1220724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17320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76272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76272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35224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35224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94176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94176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53128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53128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12080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71032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71032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9984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9984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88936" y="122072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88936" y="122072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1527048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0" y="1527048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ni-juu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417320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17320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76272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76272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35224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35224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94176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94176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53128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453128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212080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12080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71032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71032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29984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729984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488936" y="152704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488936" y="152704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1833372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0" y="1833372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san-juu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417320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417320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176272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176272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935224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935224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694176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694176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453128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453128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212080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212080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971032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971032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729984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729984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488936" y="183337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488936" y="183337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0" y="2139696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0" y="2139696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yon-juu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417320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417320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176272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176272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935224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2935224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694176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694176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453128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453128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212080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212080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971032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971032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729984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729984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488936" y="213969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488936" y="213969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0" y="2446020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0" y="2446020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go-juu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417320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417320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2176272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176272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2935224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935224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3694176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694176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4453128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453128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212080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5212080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5971032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971032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6729984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6729984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7488936" y="2446020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7488936" y="2446020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0" y="2752344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0" y="2752344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roku-juu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417320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417320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2176272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176272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2935224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2935224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3694176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3694176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4453128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4453128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5212080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5212080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5971032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5971032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6729984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6729984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488936" y="2752344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7488936" y="2752344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0" y="3058668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0" y="3058668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nana-juu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1417320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417320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2176272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2176272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2935224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2935224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3694176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3694176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4453128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4453128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5212080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212080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5971032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5971032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6729984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6729984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7488936" y="3058668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488936" y="3058668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0" y="3364992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0" y="3364992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hachi-juu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1417320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1417320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2176272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2176272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2935224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2935224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3694176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3694176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4453128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4453128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5212080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5212080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5971032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971032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6729984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6729984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7488936" y="3364992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7488936" y="3364992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0" y="3671316"/>
            <a:ext cx="1417320" cy="306324"/>
          </a:xfrm>
          <a:prstGeom prst="rect">
            <a:avLst/>
          </a:prstGeom>
          <a:solidFill>
            <a:srgbClr val="F2F7F6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0" y="3671316"/>
            <a:ext cx="132588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kyuu-juu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1417320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1417320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2176272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2176272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2935224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2935224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3694176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3694176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192" name="Shape 190"/>
          <p:cNvSpPr/>
          <p:nvPr/>
        </p:nvSpPr>
        <p:spPr>
          <a:xfrm>
            <a:off x="4453128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4453128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194" name="Shape 192"/>
          <p:cNvSpPr/>
          <p:nvPr/>
        </p:nvSpPr>
        <p:spPr>
          <a:xfrm>
            <a:off x="5212080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5212080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5971032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5971032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100" dirty="0"/>
          </a:p>
        </p:txBody>
      </p:sp>
      <p:sp>
        <p:nvSpPr>
          <p:cNvPr id="198" name="Shape 196"/>
          <p:cNvSpPr/>
          <p:nvPr/>
        </p:nvSpPr>
        <p:spPr>
          <a:xfrm>
            <a:off x="6729984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6729984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7488936" y="3671316"/>
            <a:ext cx="758952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8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7488936" y="3671316"/>
            <a:ext cx="758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00" dirty="0"/>
          </a:p>
        </p:txBody>
      </p:sp>
      <p:sp>
        <p:nvSpPr>
          <p:cNvPr id="202" name="Text 200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: zero, ree      11 (juu-ichi) = 10 (juu) + 1 (ichi)      20 (ni-juu) = 2 (ni) x 10 (juu)      21 (ni-juu-ichi) = 2 (ni) x 10 (juu) + 1 (ichi)      100 : hyaku</a:t>
            </a:r>
            <a:endParaRPr lang="en-US" sz="1100" dirty="0"/>
          </a:p>
        </p:txBody>
      </p:sp>
      <p:sp>
        <p:nvSpPr>
          <p:cNvPr id="203" name="Text 201"/>
          <p:cNvSpPr txBox="1"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shi and yon, shichi and nana, ku and kyuu can be used for 4, 7, 9 respectively.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月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ichi-gatsu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ni-gatsu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san-gatsu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shi-gatsu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go-gatsu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roku-gatsu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shichi-gatsu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hachi-gatsu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ku-gatsu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juu-gatsu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juu-ichi-gatsu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juu-ni-gatsu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時刻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ichi-ji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o'clock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ni-ji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o'clock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san-ji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o'clock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yo-ji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o'clock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go-ji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o'clock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roku-ji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o'clock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shichi-ji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o'clock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o'clock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ku-ji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o'clock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juu-ji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o'clock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juu-ichi-ji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o'clock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juu-ni-ji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o'clock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Numbers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数字の練習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following numbers in Japanese.   e.g. 13 = juu-san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roku-juu-nana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037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03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ni-juu-go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243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24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yon-juu-san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44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44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nana-juu-ni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655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655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juu-roku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go-juu-ichi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1783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hachi-juu-hachi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22037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2203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san-juu-yon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26243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624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kyuu-juu-kyuu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3044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3044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nana-juu-ichi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4655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4655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roku-juu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3886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hachi-juu-go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1783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san-juu-hachi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2037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2203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yon-juu-kyuu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26243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2624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go-juu-san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3044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3044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ni-juu-yon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34655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34655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hachi-juu-ni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943600" y="3886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hyaku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Months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月の練習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following months in Japanese.   e.g. January = ichi-gatsu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shi-gatsu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juu-ni-gatsu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shichi-gatsu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ni-gatsu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juu-ichi-gatsu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juu-gatsu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go-gatsu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hachi-gatsu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roku-gatsu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ku-gatsu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san-gatsu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Time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時刻の練習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clock aloud in Japanese.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9019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286000"/>
            <a:ext cx="182927" cy="105613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95955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yo-ji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19019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2546147" y="2103073"/>
            <a:ext cx="105613" cy="182927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95955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juu-ichi-ji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67912" y="19019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2286000"/>
            <a:ext cx="105613" cy="182927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195955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go-ji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68112" y="19019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5746547" y="2286000"/>
            <a:ext cx="105613" cy="182927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195955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shichi-ji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68312" y="19019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2286000"/>
            <a:ext cx="211226" cy="914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95955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san-ji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" y="33192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51560" y="3520393"/>
            <a:ext cx="105613" cy="182927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" y="337687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ichi-ji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67712" y="33192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651760" y="3597707"/>
            <a:ext cx="182927" cy="105613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33472" y="337687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74520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ni-ji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67912" y="33192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4069033" y="3703320"/>
            <a:ext cx="182927" cy="105613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33672" y="337687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68112" y="33192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5669233" y="3597707"/>
            <a:ext cx="182927" cy="105613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33872" y="337687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74920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juu-ji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68312" y="33192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452360" y="3492094"/>
            <a:ext cx="9144" cy="211226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34072" y="3376879"/>
            <a:ext cx="36576" cy="326441"/>
          </a:xfrm>
          <a:prstGeom prst="line">
            <a:avLst/>
          </a:prstGeom>
          <a:noFill/>
          <a:ln w="19050">
            <a:solidFill>
              <a:srgbClr val="2B3A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75120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juu-ni-ji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AISATSU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O-jigi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おじぎ  ・  bow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they are in a formal situation -- such as when meeting or leaving people, or saying thank you -- Japanese people bow to each other. There are different types of bows, from a deep bow to a slight bow. A deep bow shows deep respect or gratitude. Whenever you are in Japan, it is better to bow as Japanese do.</a:t>
            </a:r>
            <a:endParaRPr lang="en-US" sz="1500" dirty="0"/>
          </a:p>
        </p:txBody>
      </p:sp>
      <p:pic>
        <p:nvPicPr>
          <p:cNvPr id="6" name="Image 0" descr="/home/claude/lesson1-deck/oji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06324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2026-09-09T08:15:43Z</dcterms:created>
  <dcterms:modified xsi:type="dcterms:W3CDTF">2026-09-09T08:15:43Z</dcterms:modified>
</cp:coreProperties>
</file>