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New Vocabulary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AISATSU</a:t>
            </a:r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Greetings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greetings used throughout Lesson 1 and its opening conversation: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Ohayoo gozai-masu   ·   Konnichiwa   ·   Konbanwa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Oyasumi nasai   ·   Sayoonara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2F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   ·   Doozo yoroshiku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said together, when meeting someone for the first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New Vocabulary</a:t>
            </a:r>
            <a:endParaRPr lang="en-US" sz="1100" dirty="0"/>
          </a:p>
        </p:txBody>
      </p:sp>
      <p:pic>
        <p:nvPicPr>
          <p:cNvPr id="3" name="Image 0" descr="/home/claude/lesson1-flashcards/ohayo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Ohayoo gozai-masu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おはようございます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New Vocabulary</a:t>
            </a:r>
            <a:endParaRPr lang="en-US" sz="1100" dirty="0"/>
          </a:p>
        </p:txBody>
      </p:sp>
      <p:pic>
        <p:nvPicPr>
          <p:cNvPr id="3" name="Image 0" descr="/home/claude/lesson1-flashcards/konnichi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Konnichiwa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day / Hello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こんにちは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New Vocabulary</a:t>
            </a:r>
            <a:endParaRPr lang="en-US" sz="1100" dirty="0"/>
          </a:p>
        </p:txBody>
      </p:sp>
      <p:pic>
        <p:nvPicPr>
          <p:cNvPr id="3" name="Image 0" descr="/home/claude/lesson1-flashcards/konban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Konbanwa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evening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こんばんは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New Vocabulary</a:t>
            </a:r>
            <a:endParaRPr lang="en-US" sz="1100" dirty="0"/>
          </a:p>
        </p:txBody>
      </p:sp>
      <p:pic>
        <p:nvPicPr>
          <p:cNvPr id="3" name="Image 0" descr="/home/claude/lesson1-flashcards/oyasuminas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Oyasumi nasai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night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おやすみなさい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New Vocabulary</a:t>
            </a:r>
            <a:endParaRPr lang="en-US" sz="1100" dirty="0"/>
          </a:p>
        </p:txBody>
      </p:sp>
      <p:pic>
        <p:nvPicPr>
          <p:cNvPr id="3" name="Image 0" descr="/home/claude/lesson1-flashcards/sayoon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Sayoonara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bye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さようなら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New Vocabulary</a:t>
            </a:r>
            <a:endParaRPr lang="en-US" sz="1100" dirty="0"/>
          </a:p>
        </p:txBody>
      </p:sp>
      <p:pic>
        <p:nvPicPr>
          <p:cNvPr id="3" name="Image 0" descr="/home/claude/lesson1-flashcards/hajimemas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Hajimemashite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do?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はじめまして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New Vocabulary</a:t>
            </a:r>
            <a:endParaRPr lang="en-US" sz="1100" dirty="0"/>
          </a:p>
        </p:txBody>
      </p:sp>
      <p:pic>
        <p:nvPicPr>
          <p:cNvPr id="3" name="Image 0" descr="/home/claude/lesson1-flashcards/doozoyoroshik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Doozo yoroshiku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どうぞよろしく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(1) &amp; (3)</a:t>
            </a:r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Substitution Drill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 Watashi wa </a:t>
            </a:r>
            <a:pPr indent="0" marL="0">
              <a:buNone/>
            </a:pPr>
            <a:r>
              <a:rPr lang="en-US" sz="3000" b="1" u="sng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  Watashi wa </a:t>
            </a:r>
            <a:pPr indent="0" marL="0">
              <a:buNone/>
            </a:pPr>
            <a:r>
              <a:rPr lang="en-US" sz="3000" b="1" u="sng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wa ari-masen.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underlined word for each of these: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F2F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  ·   Nihon-jin   ·   Amerika-jin   ·   Oosutoraria-jin   ·   Chuugoku-jin*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Chuugoku-jin = Chinese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seek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  —  a girl's name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せいこ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j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 —  a man's name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ジョン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Jon desu.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Jon de wa ari-masen.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nihonj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Nihon-jin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person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日本人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Nihon-jin desu.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Nihon-jin de wa ari-masen.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ameri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Amerika-jin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person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アメリカ人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Amerika-jin desu.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Amerika-jin de wa ari-masen.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austral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Oosutoraria-jin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person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オーストラリア人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Oosutoraria-jin desu.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Oosutoraria-jin de wa ari-masen.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chi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Chuugoku-jin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person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中国人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Chuugoku-jin desu.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 wa Chuugoku-jin de wa ari-masen.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(2) &amp; (4)</a:t>
            </a:r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Substitution Drill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 Watashi wa </a:t>
            </a:r>
            <a:pPr indent="0" marL="0">
              <a:buNone/>
            </a:pPr>
            <a:r>
              <a:rPr lang="en-US" sz="3000" b="1" u="sng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Nihon-jin</a:t>
            </a:r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  Watashi wa </a:t>
            </a:r>
            <a:pPr indent="0" marL="0">
              <a:buNone/>
            </a:pPr>
            <a:r>
              <a:rPr lang="en-US" sz="3000" b="1" u="sng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Nihon-jin</a:t>
            </a:r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wa ari-masen.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underlined word for each of these: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F2F7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  ·   anata   ·   anata-tachi   ·   kare   ·   kanojo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· you · you (plural) · he · she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watashita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wa Nihon-jin desu.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Watashi-tachi wa Nihon-jin de wa ari-masen.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an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Nihon-jin desu.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Nihon-jin de wa ari-masen.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anatata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anata-tachi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(plural)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あなたたち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Anata-tachi wa Nihon-jin desu.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Anata-tachi wa Nihon-jin de wa ari-masen.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k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 wa Nihon-jin desu.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 wa Nihon-jin de wa ari-masen.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pic>
        <p:nvPicPr>
          <p:cNvPr id="3" name="Image 0" descr="/home/claude/lesson1-flashcards/kano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kanojo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彼女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4173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Kanojo wa Nihon-jin desu.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1089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Kanojo wa Nihon-jin de wa ari-masen.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(5) &amp; Exercise 2</a:t>
            </a:r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Question &amp; Answer Drill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  Anata wa </a:t>
            </a:r>
            <a:pPr indent="0" marL="0">
              <a:buNone/>
            </a:pPr>
            <a:r>
              <a:rPr lang="en-US" sz="2800" b="1" u="sng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Seeko-san</a:t>
            </a:r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 ka?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562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  </a:t>
            </a:r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Hai, Seeko desu.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  </a:t>
            </a:r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Iie, Seeko de wa ari-masen.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underlined word, then answer both ways: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461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  ·   Nihon-jin   ·   Amerika-jin   ·   Oosutoraria-jin   ·   Chuugoku-jin*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86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Chuugoku-jin = Chinese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</a:t>
            </a:r>
            <a:pPr indent="0" marL="0">
              <a:buNone/>
            </a:pPr>
            <a:r>
              <a:rPr lang="en-US" sz="30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Jon-san</a:t>
            </a:r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 ka?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0574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Hai, Jon desu.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74904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7490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Iie, Jon de wa ari-masen.</a:t>
            </a:r>
            <a:endParaRPr lang="en-US" sz="2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</a:t>
            </a:r>
            <a:pPr indent="0" marL="0">
              <a:buNone/>
            </a:pPr>
            <a:r>
              <a:rPr lang="en-US" sz="30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Nihon-jin</a:t>
            </a:r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 ka?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0574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Hai, Nihon-jin desu.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74904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7490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Iie, Nihon-jin de wa ari-masen.</a:t>
            </a:r>
            <a:endParaRPr lang="en-US" sz="2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</a:t>
            </a:r>
            <a:pPr indent="0" marL="0">
              <a:buNone/>
            </a:pPr>
            <a:r>
              <a:rPr lang="en-US" sz="28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Amerika-jin</a:t>
            </a:r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 ka?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0574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Hai, Amerika-jin desu.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74904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7490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Iie, Amerika-jin de wa ari-masen.</a:t>
            </a:r>
            <a:endParaRPr lang="en-US" sz="2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</a:t>
            </a:r>
            <a:pPr indent="0" marL="0">
              <a:buNone/>
            </a:pPr>
            <a:r>
              <a:rPr lang="en-US" sz="25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Oosutoraria-jin</a:t>
            </a:r>
            <a:pPr indent="0" marL="0">
              <a:buNone/>
            </a:pPr>
            <a:r>
              <a:rPr lang="en-US" sz="2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 ka?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0574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Hai, Oosutoraria-jin desu.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74904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7490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Iie, Oosutoraria-jin de wa ari-masen.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Exercises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Anata wa </a:t>
            </a:r>
            <a:pPr indent="0" marL="0">
              <a:buNone/>
            </a:pPr>
            <a:r>
              <a:rPr lang="en-US" sz="28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Chuugoku-jin</a:t>
            </a:r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desu ka?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3E8FA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0574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Hai, Chuugoku-jin desu.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749040"/>
            <a:ext cx="1051560" cy="105156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C05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5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7490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Iie, Chuugoku-jin de wa ari-masen.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(I)</a:t>
            </a:r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0  ~  100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numbers, used to build every number up to 100: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  ·   Ichi   ·   Ni   ·   San   ·   Yon   ·   Go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   ·   Nana   ·   Hachi   ·   Kyuu   ·   Juu   ·   Hyaku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29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= 10 + 1  </a:t>
            </a:r>
            <a:pPr indent="0" marL="0">
              <a:buNone/>
            </a:pPr>
            <a:r>
              <a:rPr lang="en-US" sz="18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(juu-ichi)      </a:t>
            </a:r>
            <a:pPr indent="0" marL="0">
              <a:buNone/>
            </a:pPr>
            <a:r>
              <a:rPr lang="en-US" sz="1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= 2 × 10  </a:t>
            </a:r>
            <a:pPr indent="0" marL="0">
              <a:buNone/>
            </a:pPr>
            <a:r>
              <a:rPr lang="en-US" sz="18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(ni-juu)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4, 7, and 9 each have two readings — both are used.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z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 (also: ree)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ゼロ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i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y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/ Yon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rok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六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n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Shichi / Nana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七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ha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八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kyu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/ Kyuu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ju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十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num_hyak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86868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Hyaku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90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百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-gatsu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are simply a number + "-gatsu":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Ichi-gatsu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(1)  →  </a:t>
            </a:r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99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months use a special reading instead of the usual number: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383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Shi-gatsu (Apr.)   ·   Shichi-gatsu (Jul.)   ·   Ku-gatsu (Sep.)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ichi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Ichi-gatsu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一月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ni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Ni-gatsu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二月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san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San-gatsu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三月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shi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Shi-gatsu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四月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go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Go-gatsu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五月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roku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Roku-gatsu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六月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shichi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Shichi-gatsu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七月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hachi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Hachi-gatsu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八月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ku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Ku-gatsu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九月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juu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Juu-gatsu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十月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juuichi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Juu-ichi-gatsu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十一月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month_juunigat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Juu-ni-gatsu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十二月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pPr indent="0" marL="0">
              <a:buNone/>
            </a:pPr>
            <a:r>
              <a:rPr lang="en-US" sz="18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-ji  ·  o'clock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time on the hour is a number + "-ji":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F2F7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Ichi-ji</a:t>
            </a:r>
            <a:pPr indent="0" marL="0">
              <a:buNone/>
            </a:pPr>
            <a:r>
              <a:rPr lang="en-US" sz="20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(1)  →  </a:t>
            </a:r>
            <a:pPr indent="0" marL="0">
              <a:buNone/>
            </a:pPr>
            <a:r>
              <a:rPr lang="en-US" sz="20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o'clock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863840" cy="0"/>
          </a:xfrm>
          <a:prstGeom prst="line">
            <a:avLst/>
          </a:prstGeom>
          <a:noFill/>
          <a:ln w="12700">
            <a:solidFill>
              <a:srgbClr val="E3E9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99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hours use a special reading instead of the usual number: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F2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383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Yo-ji (4:00)   ·   Shichi-ji (7:00)   ·   Ku-ji (9:00)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ichi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Ichi-ji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一時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ni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Ni-ji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二時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san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San-ji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三時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yo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Yo-ji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四時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go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Go-ji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五時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roku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Roku-ji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六時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shichi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Shichi-ji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七時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hachi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Hachi-ji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八時</a:t>
            </a:r>
            <a:endParaRPr 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ku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Ku-ji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九時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juu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Juu-ji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十時</a:t>
            </a:r>
            <a:endParaRPr 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juuichi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Juu-ichi-ji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十一時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82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·  Extra Study</a:t>
            </a:r>
            <a:endParaRPr lang="en-US" sz="1100" dirty="0"/>
          </a:p>
        </p:txBody>
      </p:sp>
      <p:pic>
        <p:nvPicPr>
          <p:cNvPr id="3" name="Image 0" descr="/home/claude/lesson1-flashcards/time_juunij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Juu-ni-ji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o'clock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2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十二時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2026-09-09T11:46:16Z</dcterms:created>
  <dcterms:modified xsi:type="dcterms:W3CDTF">2026-09-09T11:46:16Z</dcterms:modified>
</cp:coreProperties>
</file>